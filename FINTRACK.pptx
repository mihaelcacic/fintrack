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342" r:id="rId5"/>
    <p:sldId id="359" r:id="rId6"/>
    <p:sldId id="382" r:id="rId7"/>
    <p:sldId id="375" r:id="rId8"/>
    <p:sldId id="383" r:id="rId9"/>
    <p:sldId id="384" r:id="rId10"/>
    <p:sldId id="365" r:id="rId11"/>
    <p:sldId id="385" r:id="rId12"/>
    <p:sldId id="386" r:id="rId13"/>
    <p:sldId id="390" r:id="rId14"/>
    <p:sldId id="376" r:id="rId15"/>
    <p:sldId id="388" r:id="rId16"/>
    <p:sldId id="391" r:id="rId17"/>
    <p:sldId id="392" r:id="rId18"/>
    <p:sldId id="393" r:id="rId19"/>
    <p:sldId id="394" r:id="rId20"/>
    <p:sldId id="395" r:id="rId21"/>
    <p:sldId id="396" r:id="rId22"/>
    <p:sldId id="397" r:id="rId23"/>
    <p:sldId id="398" r:id="rId24"/>
    <p:sldId id="399" r:id="rId25"/>
    <p:sldId id="400" r:id="rId26"/>
    <p:sldId id="38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5388" autoAdjust="0"/>
  </p:normalViewPr>
  <p:slideViewPr>
    <p:cSldViewPr snapToGrid="0" snapToObjects="1" showGuides="1">
      <p:cViewPr>
        <p:scale>
          <a:sx n="125" d="100"/>
          <a:sy n="125" d="100"/>
        </p:scale>
        <p:origin x="1584" y="6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DDDF2-FC91-F413-9E93-D65B4D4F4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18EEA-8231-3D94-F332-FC0F5D49A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38C0AA-932D-F4E8-C792-9E990186B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1DD5B-9767-D544-D1C0-735D784BBC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659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C835D-5CA0-02EE-072A-AF8CA4C41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0906D6-316B-ED71-123C-D8CA62C0F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6B086-5B4B-335E-DC9E-E2E57C196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E3C3C-1DF6-BF52-2D02-04026193E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01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BFAF9-028C-A112-FF7C-8B42D2B0A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B55815-554C-5DB5-F6C4-8782CF245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F03D11-38CB-AE2E-9909-9A048B47F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8AE80-648D-0EAB-B3EE-E6F8990B3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0017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D455D-2794-DD5B-19CB-94E0820FB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AE1F8-FB6A-4CFB-7D6C-7EA7A240B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D7E72-ED22-616A-07BF-708DE8585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950A2-4C22-8D68-C00D-0C7E382A2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4406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B0EAF-7681-2851-8CCE-3001C8979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00A657-B074-C13D-A022-7F9035F6E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7FD86-420B-DD36-4974-38150D04E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19CE8-27E9-E4F0-D385-C87E76A15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4517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85394-0E80-1747-7665-C130B5EEA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70CF4-D81F-8FB0-0D3A-1F30774BA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A109C-E18B-C756-92A0-B3FD1AA23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3C894-BE02-7C53-1171-B376187B76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4806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93A92-594D-D4EB-052A-7A0FDA162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C98EA-33DF-3CA1-C8C9-B4C2CFAAC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2273E-2325-B7EC-1283-F5E1AF3C4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4294F-E0C3-C229-4273-E5EE22FB0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6871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0969D-D38D-8F92-C9E0-9269883B3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BE621-1037-BA42-49D5-AF82FEED3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29627-DE55-2499-9F28-FC3E860B7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24783-AA68-E6DC-AD20-59901645C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584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FINTRACK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 err="1"/>
              <a:t>Aplikacija</a:t>
            </a:r>
            <a:r>
              <a:rPr lang="en-US" dirty="0"/>
              <a:t> za </a:t>
            </a:r>
            <a:r>
              <a:rPr lang="en-US" dirty="0" err="1"/>
              <a:t>va</a:t>
            </a:r>
            <a:r>
              <a:rPr lang="hr-HR" dirty="0" err="1"/>
              <a:t>še</a:t>
            </a:r>
            <a:r>
              <a:rPr lang="hr-HR" dirty="0"/>
              <a:t> financije</a:t>
            </a:r>
          </a:p>
          <a:p>
            <a:endParaRPr lang="hr-HR" dirty="0"/>
          </a:p>
          <a:p>
            <a:r>
              <a:rPr lang="hr-HR" dirty="0"/>
              <a:t>PROJEKT R</a:t>
            </a:r>
          </a:p>
          <a:p>
            <a:r>
              <a:rPr lang="hr-HR" sz="1200" dirty="0" err="1"/>
              <a:t>ak.god</a:t>
            </a:r>
            <a:r>
              <a:rPr lang="hr-HR" sz="1200" dirty="0"/>
              <a:t> 25</a:t>
            </a:r>
            <a:r>
              <a:rPr lang="en-US" sz="1200" dirty="0"/>
              <a:t>/26</a:t>
            </a:r>
            <a:endParaRPr lang="hr-HR" sz="1200" dirty="0"/>
          </a:p>
          <a:p>
            <a:r>
              <a:rPr lang="hr-HR" sz="1200" dirty="0"/>
              <a:t>Mentor: </a:t>
            </a:r>
            <a:r>
              <a:rPr lang="hr-HR" sz="1200" dirty="0" err="1"/>
              <a:t>mirko</a:t>
            </a:r>
            <a:r>
              <a:rPr lang="hr-HR" sz="1200" dirty="0"/>
              <a:t> </a:t>
            </a:r>
            <a:r>
              <a:rPr lang="hr-HR" sz="1200" dirty="0" err="1"/>
              <a:t>randić</a:t>
            </a:r>
            <a:endParaRPr lang="hr-HR" sz="1200" dirty="0"/>
          </a:p>
          <a:p>
            <a:r>
              <a:rPr lang="hr-HR" sz="1200" dirty="0"/>
              <a:t>Grupa 229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 err="1"/>
              <a:t>sadr</a:t>
            </a:r>
            <a:r>
              <a:rPr lang="hr-HR" dirty="0" err="1"/>
              <a:t>žaj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2526" y="2826681"/>
            <a:ext cx="4466504" cy="3574119"/>
          </a:xfrm>
        </p:spPr>
        <p:txBody>
          <a:bodyPr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Članovi grupe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O projektu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Analiza i oblikovanje sustava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Korišteni alati i tehnologije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Organizacija rada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Iskustva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Zaključak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F7E60-42AD-3AC0-14B1-650D0F28A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875F622-FD46-1F21-2C1C-33FD627B3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hr-HR" dirty="0"/>
              <a:t>članovi grupe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2B5DB0C-0C7D-0CFD-F13F-A0AE529944E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88933" y="2826681"/>
            <a:ext cx="5813665" cy="3574119"/>
          </a:xfrm>
        </p:spPr>
        <p:txBody>
          <a:bodyPr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Mihael Čačić: Voditelj projekta, </a:t>
            </a:r>
            <a:r>
              <a:rPr lang="hr-HR" dirty="0" err="1"/>
              <a:t>frontend</a:t>
            </a:r>
            <a:endParaRPr lang="hr-H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Antonio Valec: </a:t>
            </a:r>
            <a:r>
              <a:rPr lang="hr-HR" dirty="0" err="1"/>
              <a:t>Backend</a:t>
            </a:r>
            <a:r>
              <a:rPr lang="hr-HR" dirty="0"/>
              <a:t>, </a:t>
            </a:r>
            <a:r>
              <a:rPr lang="hr-HR" dirty="0" err="1"/>
              <a:t>Dev</a:t>
            </a:r>
            <a:r>
              <a:rPr lang="hr-HR" dirty="0"/>
              <a:t> </a:t>
            </a:r>
            <a:r>
              <a:rPr lang="hr-HR" dirty="0" err="1"/>
              <a:t>Ops</a:t>
            </a:r>
            <a:endParaRPr lang="hr-H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Ivan Klobučar: </a:t>
            </a:r>
            <a:r>
              <a:rPr lang="hr-HR" dirty="0" err="1"/>
              <a:t>Backend</a:t>
            </a:r>
            <a:endParaRPr lang="hr-H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Leon </a:t>
            </a:r>
            <a:r>
              <a:rPr lang="hr-HR" dirty="0" err="1"/>
              <a:t>Vesić</a:t>
            </a:r>
            <a:r>
              <a:rPr lang="hr-HR" dirty="0"/>
              <a:t>: Baze podataka, dokumentacija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Filip Vučković: Dokumentacija, </a:t>
            </a:r>
            <a:r>
              <a:rPr lang="hr-HR" dirty="0" err="1"/>
              <a:t>frontend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73122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hr-HR" dirty="0"/>
              <a:t>O projektu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r>
              <a:rPr lang="en-US" b="1" dirty="0"/>
              <a:t>Problem:</a:t>
            </a:r>
            <a:endParaRPr lang="en-US" dirty="0"/>
          </a:p>
          <a:p>
            <a:pPr lvl="1"/>
            <a:r>
              <a:rPr lang="en-US" dirty="0"/>
              <a:t>Neorganizirano </a:t>
            </a:r>
            <a:r>
              <a:rPr lang="en-US" dirty="0" err="1"/>
              <a:t>vođenje</a:t>
            </a:r>
            <a:r>
              <a:rPr lang="en-US" dirty="0"/>
              <a:t> </a:t>
            </a:r>
            <a:r>
              <a:rPr lang="en-US" dirty="0" err="1"/>
              <a:t>osobnih</a:t>
            </a:r>
            <a:r>
              <a:rPr lang="en-US" dirty="0"/>
              <a:t> </a:t>
            </a:r>
            <a:r>
              <a:rPr lang="en-US" dirty="0" err="1"/>
              <a:t>financija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Teško</a:t>
            </a:r>
            <a:r>
              <a:rPr lang="en-US" dirty="0"/>
              <a:t> </a:t>
            </a:r>
            <a:r>
              <a:rPr lang="en-US" dirty="0" err="1"/>
              <a:t>praćenje</a:t>
            </a:r>
            <a:r>
              <a:rPr lang="en-US" dirty="0"/>
              <a:t> </a:t>
            </a:r>
            <a:r>
              <a:rPr lang="en-US" dirty="0" err="1"/>
              <a:t>gdje</a:t>
            </a:r>
            <a:r>
              <a:rPr lang="en-US" dirty="0"/>
              <a:t> </a:t>
            </a:r>
            <a:r>
              <a:rPr lang="en-US" dirty="0" err="1"/>
              <a:t>novac</a:t>
            </a:r>
            <a:r>
              <a:rPr lang="en-US" dirty="0"/>
              <a:t> "</a:t>
            </a:r>
            <a:r>
              <a:rPr lang="en-US" dirty="0" err="1"/>
              <a:t>nestaje</a:t>
            </a:r>
            <a:r>
              <a:rPr lang="en-US" dirty="0"/>
              <a:t>" </a:t>
            </a:r>
            <a:r>
              <a:rPr lang="en-US" dirty="0" err="1"/>
              <a:t>svakog</a:t>
            </a:r>
            <a:r>
              <a:rPr lang="en-US" dirty="0"/>
              <a:t> </a:t>
            </a:r>
            <a:r>
              <a:rPr lang="en-US" dirty="0" err="1"/>
              <a:t>mjeseca</a:t>
            </a:r>
            <a:r>
              <a:rPr lang="en-US" dirty="0"/>
              <a:t>.</a:t>
            </a:r>
          </a:p>
          <a:p>
            <a:pPr lvl="1"/>
            <a:r>
              <a:rPr lang="hr-HR" dirty="0"/>
              <a:t>Praćenje kroz </a:t>
            </a:r>
            <a:r>
              <a:rPr lang="hr-HR" dirty="0" err="1"/>
              <a:t>excel</a:t>
            </a:r>
            <a:r>
              <a:rPr lang="hr-HR" dirty="0"/>
              <a:t> naporno i komplicirano</a:t>
            </a:r>
            <a:endParaRPr lang="en-US" dirty="0"/>
          </a:p>
          <a:p>
            <a:pPr lvl="1"/>
            <a:r>
              <a:rPr lang="en-US" dirty="0" err="1"/>
              <a:t>Nemogućnost</a:t>
            </a:r>
            <a:r>
              <a:rPr lang="en-US" dirty="0"/>
              <a:t> </a:t>
            </a:r>
            <a:r>
              <a:rPr lang="en-US" dirty="0" err="1"/>
              <a:t>jednostavnog</a:t>
            </a:r>
            <a:r>
              <a:rPr lang="en-US" dirty="0"/>
              <a:t> </a:t>
            </a:r>
            <a:r>
              <a:rPr lang="en-US" dirty="0" err="1"/>
              <a:t>planiranja</a:t>
            </a:r>
            <a:r>
              <a:rPr lang="en-US" dirty="0"/>
              <a:t> </a:t>
            </a:r>
            <a:r>
              <a:rPr lang="en-US" dirty="0" err="1"/>
              <a:t>dugoročne</a:t>
            </a:r>
            <a:r>
              <a:rPr lang="en-US" dirty="0"/>
              <a:t> </a:t>
            </a:r>
            <a:r>
              <a:rPr lang="en-US" dirty="0" err="1"/>
              <a:t>štednje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6DF81-30BE-6367-F039-1F6F2C6E5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03D2A-6F92-51CC-C2B6-798C87BBA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hr-HR" dirty="0"/>
              <a:t>O projektu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2BA08-EB7E-0FF2-1410-8F6F3BBA89E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r>
              <a:rPr lang="hr-HR" b="1" dirty="0" err="1"/>
              <a:t>Riješenje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/>
              <a:t>Centralizacija </a:t>
            </a:r>
            <a:r>
              <a:rPr lang="en-US" dirty="0" err="1"/>
              <a:t>svih</a:t>
            </a:r>
            <a:r>
              <a:rPr lang="en-US" dirty="0"/>
              <a:t> </a:t>
            </a:r>
            <a:r>
              <a:rPr lang="en-US" dirty="0" err="1"/>
              <a:t>financijskih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mjestu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Jednostavan</a:t>
            </a:r>
            <a:r>
              <a:rPr lang="en-US" dirty="0"/>
              <a:t> </a:t>
            </a:r>
            <a:r>
              <a:rPr lang="en-US" dirty="0" err="1"/>
              <a:t>uvoz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(CSV</a:t>
            </a:r>
            <a:r>
              <a:rPr lang="hr-HR" dirty="0"/>
              <a:t>, Excel</a:t>
            </a:r>
            <a:r>
              <a:rPr lang="en-US" dirty="0"/>
              <a:t>)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bankovnih</a:t>
            </a:r>
            <a:r>
              <a:rPr lang="en-US" dirty="0"/>
              <a:t> </a:t>
            </a:r>
            <a:r>
              <a:rPr lang="en-US" dirty="0" err="1"/>
              <a:t>izvoda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Vizualni</a:t>
            </a:r>
            <a:r>
              <a:rPr lang="en-US" dirty="0"/>
              <a:t> </a:t>
            </a:r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en-US" dirty="0" err="1"/>
              <a:t>potrošnje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grafove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mjesečne</a:t>
            </a:r>
            <a:r>
              <a:rPr lang="en-US" dirty="0"/>
              <a:t> </a:t>
            </a:r>
            <a:r>
              <a:rPr lang="en-US" dirty="0" err="1"/>
              <a:t>sažetke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Motivacija</a:t>
            </a:r>
            <a:r>
              <a:rPr lang="en-US" dirty="0"/>
              <a:t> </a:t>
            </a:r>
            <a:r>
              <a:rPr lang="en-US" dirty="0" err="1"/>
              <a:t>korisnika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postavljanje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praćenje</a:t>
            </a:r>
            <a:r>
              <a:rPr lang="en-US" dirty="0"/>
              <a:t> </a:t>
            </a:r>
            <a:r>
              <a:rPr lang="en-US" dirty="0" err="1"/>
              <a:t>ciljeva</a:t>
            </a:r>
            <a:r>
              <a:rPr lang="en-US" dirty="0"/>
              <a:t> </a:t>
            </a:r>
            <a:r>
              <a:rPr lang="en-US" dirty="0" err="1"/>
              <a:t>štednje</a:t>
            </a:r>
            <a:r>
              <a:rPr lang="en-US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37E747-62CA-07EB-AE36-51F471924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414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D1B64-BE69-2FFA-6575-14E1BFFE1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C4C0461-F16E-414D-1C86-2D7558F3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040935D-84C3-1418-6D43-A4DA022DD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043" y="1980149"/>
            <a:ext cx="7289913" cy="1657984"/>
          </a:xfrm>
        </p:spPr>
        <p:txBody>
          <a:bodyPr anchor="b"/>
          <a:lstStyle/>
          <a:p>
            <a:r>
              <a:rPr lang="hr-HR" dirty="0"/>
              <a:t>Analiza i oblikovanje sustava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62FB38F-99CA-12EA-EE97-384FA2F8E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448" y="3962135"/>
            <a:ext cx="6327105" cy="2653771"/>
          </a:xfrm>
        </p:spPr>
        <p:txBody>
          <a:bodyPr/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hr-HR" sz="2400" dirty="0"/>
              <a:t>Funkcijski/</a:t>
            </a:r>
            <a:r>
              <a:rPr lang="hr-HR" sz="2400" dirty="0" err="1"/>
              <a:t>Nefunkcijskii</a:t>
            </a:r>
            <a:r>
              <a:rPr lang="hr-HR" sz="2400" dirty="0"/>
              <a:t> zahtjevi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hr-HR" sz="2400" dirty="0"/>
              <a:t>Specifikacija zahtjeva sustava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hr-HR" sz="2400" dirty="0"/>
              <a:t>Arhitektura sustava</a:t>
            </a:r>
          </a:p>
        </p:txBody>
      </p:sp>
    </p:spTree>
    <p:extLst>
      <p:ext uri="{BB962C8B-B14F-4D97-AF65-F5344CB8AC3E}">
        <p14:creationId xmlns:p14="http://schemas.microsoft.com/office/powerpoint/2010/main" val="664090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1"/>
            <a:ext cx="6327105" cy="599790"/>
          </a:xfrm>
        </p:spPr>
        <p:txBody>
          <a:bodyPr anchor="b"/>
          <a:lstStyle/>
          <a:p>
            <a:r>
              <a:rPr lang="hr-HR" dirty="0"/>
              <a:t>Funkcijski zahtjevi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DFA362C-24A3-8E3F-FDF9-26D2BD01C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115354"/>
              </p:ext>
            </p:extLst>
          </p:nvPr>
        </p:nvGraphicFramePr>
        <p:xfrm>
          <a:off x="1950093" y="922020"/>
          <a:ext cx="8291813" cy="572459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691296">
                  <a:extLst>
                    <a:ext uri="{9D8B030D-6E8A-4147-A177-3AD203B41FA5}">
                      <a16:colId xmlns:a16="http://schemas.microsoft.com/office/drawing/2014/main" val="368408766"/>
                    </a:ext>
                  </a:extLst>
                </a:gridCol>
                <a:gridCol w="6600517">
                  <a:extLst>
                    <a:ext uri="{9D8B030D-6E8A-4147-A177-3AD203B41FA5}">
                      <a16:colId xmlns:a16="http://schemas.microsoft.com/office/drawing/2014/main" val="1070576284"/>
                    </a:ext>
                  </a:extLst>
                </a:gridCol>
              </a:tblGrid>
              <a:tr h="454942">
                <a:tc>
                  <a:txBody>
                    <a:bodyPr/>
                    <a:lstStyle/>
                    <a:p>
                      <a:r>
                        <a:rPr lang="en-US" dirty="0"/>
                        <a:t>ID </a:t>
                      </a:r>
                      <a:r>
                        <a:rPr lang="en-US" dirty="0" err="1"/>
                        <a:t>zahtjeva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Opis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funkcionalnosti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182312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hr-HR" dirty="0"/>
                        <a:t>FZ01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Sustav mora omogućiti registraciju korisnika.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554356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hr-HR" dirty="0"/>
                        <a:t>FZ02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Korisnik unosi podatke vezane uz financije (prihod, trošak).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072521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hr-HR" dirty="0"/>
                        <a:t>FZ03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Sustav mora omogućiti pregled i filtriranje transakcija po datumu/kategoriji/iznosu.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140549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hr-HR" dirty="0"/>
                        <a:t>FZ0</a:t>
                      </a:r>
                      <a:r>
                        <a:rPr lang="en-US" dirty="0"/>
                        <a:t>4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Sustav mora omogućiti pretraživanje transakcija po opisu/nazivu.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362925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hr-HR" dirty="0"/>
                        <a:t>FZ0</a:t>
                      </a:r>
                      <a:r>
                        <a:rPr lang="en-US" dirty="0"/>
                        <a:t>5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 Sustav mora omogućiti uvoz transakcija iz CSV datoteke.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664232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hr-HR" dirty="0"/>
                        <a:t>FZ0</a:t>
                      </a:r>
                      <a:r>
                        <a:rPr lang="en-US" dirty="0"/>
                        <a:t>6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Sustav mora omogućiti postavljanje cilja štednje (iznos, rok).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303843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hr-HR" dirty="0"/>
                        <a:t>FZ0</a:t>
                      </a:r>
                      <a:r>
                        <a:rPr lang="en-US" dirty="0"/>
                        <a:t>7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Sustav mora prikazati napredak prema cilju štednje.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543161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hr-HR" dirty="0"/>
                        <a:t>FZ0</a:t>
                      </a:r>
                      <a:r>
                        <a:rPr lang="en-US" dirty="0"/>
                        <a:t>8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Sustav mora prikazati mjesečne sažetke i grafove potrošnje.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9793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hr-HR" dirty="0"/>
                        <a:t>FZ0</a:t>
                      </a:r>
                      <a:r>
                        <a:rPr lang="en-US" dirty="0"/>
                        <a:t>9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Administrator mora moći pregledavati i ažurirati korisničke podatke.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968633"/>
                  </a:ext>
                </a:extLst>
              </a:tr>
              <a:tr h="451556">
                <a:tc>
                  <a:txBody>
                    <a:bodyPr/>
                    <a:lstStyle/>
                    <a:p>
                      <a:r>
                        <a:rPr lang="hr-HR" dirty="0"/>
                        <a:t>FZ</a:t>
                      </a:r>
                      <a:r>
                        <a:rPr lang="en-US" dirty="0"/>
                        <a:t>10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Administrator mora moći pregledati agregirane statistike korištenja.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396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76618-BCA3-29C6-2B67-F8A985F0F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F6B3E63F-98A3-F8FB-7D95-A04D6A11E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8093746-78F2-D9D2-398F-5E57CDDAD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7981" y="156956"/>
            <a:ext cx="7416038" cy="801588"/>
          </a:xfrm>
        </p:spPr>
        <p:txBody>
          <a:bodyPr anchor="b"/>
          <a:lstStyle/>
          <a:p>
            <a:r>
              <a:rPr lang="hr-HR" dirty="0"/>
              <a:t>NEFUNKCIJSKI </a:t>
            </a:r>
            <a:r>
              <a:rPr lang="hr-HR" dirty="0" err="1"/>
              <a:t>zAHTJEVI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5C5BA6-AA3A-80D3-C2B1-4D4052CF8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114741"/>
              </p:ext>
            </p:extLst>
          </p:nvPr>
        </p:nvGraphicFramePr>
        <p:xfrm>
          <a:off x="1363980" y="1135380"/>
          <a:ext cx="9288779" cy="50368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894650">
                  <a:extLst>
                    <a:ext uri="{9D8B030D-6E8A-4147-A177-3AD203B41FA5}">
                      <a16:colId xmlns:a16="http://schemas.microsoft.com/office/drawing/2014/main" val="368408766"/>
                    </a:ext>
                  </a:extLst>
                </a:gridCol>
                <a:gridCol w="7394129">
                  <a:extLst>
                    <a:ext uri="{9D8B030D-6E8A-4147-A177-3AD203B41FA5}">
                      <a16:colId xmlns:a16="http://schemas.microsoft.com/office/drawing/2014/main" val="1070576284"/>
                    </a:ext>
                  </a:extLst>
                </a:gridCol>
              </a:tblGrid>
              <a:tr h="473660">
                <a:tc>
                  <a:txBody>
                    <a:bodyPr/>
                    <a:lstStyle/>
                    <a:p>
                      <a:r>
                        <a:rPr lang="en-US" dirty="0"/>
                        <a:t>ID </a:t>
                      </a:r>
                      <a:r>
                        <a:rPr lang="en-US" dirty="0" err="1"/>
                        <a:t>zahtjeva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Opis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funkcionalnosti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182312"/>
                  </a:ext>
                </a:extLst>
              </a:tr>
              <a:tr h="709825">
                <a:tc>
                  <a:txBody>
                    <a:bodyPr/>
                    <a:lstStyle/>
                    <a:p>
                      <a:r>
                        <a:rPr lang="en-US" dirty="0"/>
                        <a:t>NFZ01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Sustav</a:t>
                      </a:r>
                      <a:r>
                        <a:rPr lang="en-US" dirty="0"/>
                        <a:t> mora </a:t>
                      </a:r>
                      <a:r>
                        <a:rPr lang="en-US" dirty="0" err="1"/>
                        <a:t>osigurati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zaštitu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korisničkih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podataka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korištenjem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autentifikacije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autorizacije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enkripcijom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osjetljivih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podataka</a:t>
                      </a:r>
                      <a:r>
                        <a:rPr lang="en-US" dirty="0"/>
                        <a:t>.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554356"/>
                  </a:ext>
                </a:extLst>
              </a:tr>
              <a:tr h="1014035">
                <a:tc>
                  <a:txBody>
                    <a:bodyPr/>
                    <a:lstStyle/>
                    <a:p>
                      <a:r>
                        <a:rPr lang="en-US" dirty="0"/>
                        <a:t>NFZ02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Sustav</a:t>
                      </a:r>
                      <a:r>
                        <a:rPr lang="en-US" dirty="0"/>
                        <a:t> mora </a:t>
                      </a:r>
                      <a:r>
                        <a:rPr lang="en-US" dirty="0" err="1"/>
                        <a:t>odgovoriti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korisničke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zahtjeve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pregled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transakcija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statistike</a:t>
                      </a:r>
                      <a:r>
                        <a:rPr lang="en-US" dirty="0"/>
                        <a:t>) </a:t>
                      </a:r>
                      <a:r>
                        <a:rPr lang="en-US" dirty="0" err="1"/>
                        <a:t>unutar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prihvatljivog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vremena</a:t>
                      </a:r>
                      <a:r>
                        <a:rPr lang="en-US" dirty="0"/>
                        <a:t>, bez </a:t>
                      </a:r>
                      <a:r>
                        <a:rPr lang="en-US" dirty="0" err="1"/>
                        <a:t>vidljivih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kašnjenja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uobičajenom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opterećenju</a:t>
                      </a:r>
                      <a:r>
                        <a:rPr lang="en-US" dirty="0"/>
                        <a:t>.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072521"/>
                  </a:ext>
                </a:extLst>
              </a:tr>
              <a:tr h="709825">
                <a:tc>
                  <a:txBody>
                    <a:bodyPr/>
                    <a:lstStyle/>
                    <a:p>
                      <a:r>
                        <a:rPr lang="en-US" dirty="0"/>
                        <a:t>NFZ03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Sustav</a:t>
                      </a:r>
                      <a:r>
                        <a:rPr lang="en-US" dirty="0"/>
                        <a:t> mora </a:t>
                      </a:r>
                      <a:r>
                        <a:rPr lang="en-US" dirty="0" err="1"/>
                        <a:t>osigurati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stabilan</a:t>
                      </a:r>
                      <a:r>
                        <a:rPr lang="en-US" dirty="0"/>
                        <a:t> rad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spriječiti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gubitak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podataka</a:t>
                      </a:r>
                      <a:r>
                        <a:rPr lang="en-US" dirty="0"/>
                        <a:t> u </a:t>
                      </a:r>
                      <a:r>
                        <a:rPr lang="en-US" dirty="0" err="1"/>
                        <a:t>slučaju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grešaka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ili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prekida</a:t>
                      </a:r>
                      <a:r>
                        <a:rPr lang="en-US" dirty="0"/>
                        <a:t> rada.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140549"/>
                  </a:ext>
                </a:extLst>
              </a:tr>
              <a:tr h="709825">
                <a:tc>
                  <a:txBody>
                    <a:bodyPr/>
                    <a:lstStyle/>
                    <a:p>
                      <a:r>
                        <a:rPr lang="en-US" dirty="0"/>
                        <a:t>NFZ04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Sustav</a:t>
                      </a:r>
                      <a:r>
                        <a:rPr lang="en-US" dirty="0"/>
                        <a:t> mora </a:t>
                      </a:r>
                      <a:r>
                        <a:rPr lang="en-US" dirty="0" err="1"/>
                        <a:t>biti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dizajniran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tako</a:t>
                      </a:r>
                      <a:r>
                        <a:rPr lang="en-US" dirty="0"/>
                        <a:t> da </a:t>
                      </a:r>
                      <a:r>
                        <a:rPr lang="en-US" dirty="0" err="1"/>
                        <a:t>podržava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povećanje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broja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korisnika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količine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podataka</a:t>
                      </a:r>
                      <a:r>
                        <a:rPr lang="en-US" dirty="0"/>
                        <a:t> bez </a:t>
                      </a:r>
                      <a:r>
                        <a:rPr lang="en-US" dirty="0" err="1"/>
                        <a:t>značajnog</a:t>
                      </a:r>
                      <a:r>
                        <a:rPr lang="en-US" dirty="0"/>
                        <a:t> pada </a:t>
                      </a:r>
                      <a:r>
                        <a:rPr lang="en-US" dirty="0" err="1"/>
                        <a:t>performansi</a:t>
                      </a:r>
                      <a:r>
                        <a:rPr lang="en-US" dirty="0"/>
                        <a:t>.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362925"/>
                  </a:ext>
                </a:extLst>
              </a:tr>
              <a:tr h="709825">
                <a:tc>
                  <a:txBody>
                    <a:bodyPr/>
                    <a:lstStyle/>
                    <a:p>
                      <a:r>
                        <a:rPr lang="en-US" dirty="0"/>
                        <a:t>NFZ05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Korisničko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sučelje</a:t>
                      </a:r>
                      <a:r>
                        <a:rPr lang="en-US" dirty="0"/>
                        <a:t> mora </a:t>
                      </a:r>
                      <a:r>
                        <a:rPr lang="en-US" dirty="0" err="1"/>
                        <a:t>biti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intuitivno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jednostavno</a:t>
                      </a:r>
                      <a:r>
                        <a:rPr lang="en-US" dirty="0"/>
                        <a:t> za </a:t>
                      </a:r>
                      <a:r>
                        <a:rPr lang="en-US" dirty="0" err="1"/>
                        <a:t>korištenje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prilagođeno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 za </a:t>
                      </a:r>
                      <a:r>
                        <a:rPr lang="en-US" dirty="0" err="1"/>
                        <a:t>mobilne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 za desktop </a:t>
                      </a:r>
                      <a:r>
                        <a:rPr lang="en-US" dirty="0" err="1"/>
                        <a:t>uređaje</a:t>
                      </a:r>
                      <a:r>
                        <a:rPr lang="en-US" dirty="0"/>
                        <a:t>.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664232"/>
                  </a:ext>
                </a:extLst>
              </a:tr>
              <a:tr h="709825">
                <a:tc>
                  <a:txBody>
                    <a:bodyPr/>
                    <a:lstStyle/>
                    <a:p>
                      <a:r>
                        <a:rPr lang="en-US" dirty="0"/>
                        <a:t>NFZ06</a:t>
                      </a:r>
                      <a:endParaRPr lang="hr-H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Sustav</a:t>
                      </a:r>
                      <a:r>
                        <a:rPr lang="en-US" dirty="0"/>
                        <a:t> mora </a:t>
                      </a:r>
                      <a:r>
                        <a:rPr lang="en-US" dirty="0" err="1"/>
                        <a:t>biti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modularno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razvijen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kako</a:t>
                      </a:r>
                      <a:r>
                        <a:rPr lang="en-US" dirty="0"/>
                        <a:t> bi se </a:t>
                      </a:r>
                      <a:r>
                        <a:rPr lang="en-US" dirty="0" err="1"/>
                        <a:t>olakšalo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buduće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nadogradnje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ispravke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grešaka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održavanje</a:t>
                      </a:r>
                      <a:r>
                        <a:rPr lang="en-US" dirty="0"/>
                        <a:t>.</a:t>
                      </a:r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303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8392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19D91-5DD3-24DA-3AB0-1BD48D4DE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EBDC8C-FA66-CA1D-2989-3FC103BE0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338" y="2697262"/>
            <a:ext cx="4958081" cy="1463476"/>
          </a:xfrm>
        </p:spPr>
        <p:txBody>
          <a:bodyPr>
            <a:normAutofit/>
          </a:bodyPr>
          <a:lstStyle/>
          <a:p>
            <a:r>
              <a:rPr lang="hr-HR" dirty="0"/>
              <a:t>Specifikacija zahtjeva sustava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6BD7B0-C17A-129C-FBD0-DFAE99DCB4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52" r="9633" b="-2"/>
          <a:stretch>
            <a:fillRect/>
          </a:stretch>
        </p:blipFill>
        <p:spPr>
          <a:xfrm>
            <a:off x="6497638" y="336550"/>
            <a:ext cx="5322887" cy="6184900"/>
          </a:xfrm>
          <a:prstGeom prst="rect">
            <a:avLst/>
          </a:prstGeom>
          <a:noFill/>
        </p:spPr>
      </p:pic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AC53939E-1EDD-74A8-47D0-1431FD2F4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535F6C4-BB21-92BB-9C9C-A07EC89EC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617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6B72D-6357-F7D3-D80C-C3E44486F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D5C-A9CF-8D24-89AC-B6B28492F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anchor="b">
            <a:normAutofit/>
          </a:bodyPr>
          <a:lstStyle/>
          <a:p>
            <a:r>
              <a:rPr lang="hr-HR" dirty="0"/>
              <a:t>Arhitektura sustava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DD8E0-71C9-607D-C8B1-F9DA4A071D8E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b="1" dirty="0"/>
              <a:t>Višeslojna arhitektura s jasno razdvojenim prezentacijskim, poslovnim i podatkovnim slojem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b="1" dirty="0"/>
              <a:t>Razdvajanje odgovornosti, fleksibilnost i primjena načela „podijeli pa vladaj“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512436-3A2F-055B-DC31-AFB021BFC1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600" y="2811799"/>
            <a:ext cx="6315069" cy="3031233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0EF07-94D2-B08F-E126-3E46C0A92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42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dirty="0" err="1"/>
              <a:t>Korišteni</a:t>
            </a:r>
            <a:r>
              <a:rPr lang="en-US" dirty="0"/>
              <a:t> </a:t>
            </a:r>
            <a:r>
              <a:rPr lang="en-US" dirty="0" err="1"/>
              <a:t>alati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tehnologije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474811"/>
            <a:ext cx="8524124" cy="352839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Programski</a:t>
            </a:r>
            <a:r>
              <a:rPr lang="en-US" dirty="0"/>
              <a:t> </a:t>
            </a:r>
            <a:r>
              <a:rPr lang="en-US" dirty="0" err="1"/>
              <a:t>jezici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 (</a:t>
            </a:r>
            <a:r>
              <a:rPr lang="en-US" dirty="0" err="1"/>
              <a:t>verzija</a:t>
            </a:r>
            <a:r>
              <a:rPr lang="en-US" dirty="0"/>
              <a:t> 21) – 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(</a:t>
            </a:r>
            <a:r>
              <a:rPr lang="en-US" dirty="0" err="1"/>
              <a:t>verzija</a:t>
            </a:r>
            <a:r>
              <a:rPr lang="en-US" dirty="0"/>
              <a:t> 22) – frontend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Radni</a:t>
            </a:r>
            <a:r>
              <a:rPr lang="en-US" dirty="0"/>
              <a:t> </a:t>
            </a:r>
            <a:r>
              <a:rPr lang="en-US" dirty="0" err="1"/>
              <a:t>okviri</a:t>
            </a:r>
            <a:r>
              <a:rPr lang="en-US" dirty="0"/>
              <a:t>: Spring Boot, React, JPA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Baza </a:t>
            </a:r>
            <a:r>
              <a:rPr lang="en-US" dirty="0" err="1"/>
              <a:t>podataka</a:t>
            </a:r>
            <a:r>
              <a:rPr lang="en-US" dirty="0"/>
              <a:t>: PostgreSQL (</a:t>
            </a:r>
            <a:r>
              <a:rPr lang="en-US" dirty="0" err="1"/>
              <a:t>verzija</a:t>
            </a:r>
            <a:r>
              <a:rPr lang="en-US" dirty="0"/>
              <a:t> 1</a:t>
            </a:r>
            <a:r>
              <a:rPr lang="hr-HR" dirty="0"/>
              <a:t>8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Razvojni</a:t>
            </a:r>
            <a:r>
              <a:rPr lang="en-US" dirty="0"/>
              <a:t> </a:t>
            </a:r>
            <a:r>
              <a:rPr lang="en-US" dirty="0" err="1"/>
              <a:t>alati</a:t>
            </a:r>
            <a:r>
              <a:rPr lang="en-US" dirty="0"/>
              <a:t>: IntelliJ IDEA, Git</a:t>
            </a:r>
            <a:r>
              <a:rPr lang="hr-HR" dirty="0"/>
              <a:t>, </a:t>
            </a:r>
            <a:r>
              <a:rPr lang="hr-HR" dirty="0" err="1"/>
              <a:t>Visual</a:t>
            </a:r>
            <a:r>
              <a:rPr lang="hr-HR" dirty="0"/>
              <a:t> Studio </a:t>
            </a:r>
            <a:r>
              <a:rPr lang="hr-HR" dirty="0" err="1"/>
              <a:t>Code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Puštanje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 u </a:t>
            </a:r>
            <a:r>
              <a:rPr lang="en-US" dirty="0" err="1"/>
              <a:t>pogon</a:t>
            </a:r>
            <a:r>
              <a:rPr lang="en-US" dirty="0"/>
              <a:t>: Render, Nginx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98D11-EFCE-BD6A-5A90-89BC6D8BA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1EC1-3E53-1FF1-BA87-5CA967F3F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hr-HR" dirty="0"/>
              <a:t>Organizacija rada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59357-70FF-7600-AE6E-DC79D1FB4413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957090" y="2018337"/>
            <a:ext cx="10164308" cy="4390423"/>
          </a:xfrm>
        </p:spPr>
        <p:txBody>
          <a:bodyPr/>
          <a:lstStyle/>
          <a:p>
            <a:pPr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405F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Metodologija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:</a:t>
            </a:r>
            <a:endParaRPr kumimoji="0" lang="hr-H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Biome" panose="020B0503030204020804" pitchFamily="34" charset="0"/>
            </a:endParaRPr>
          </a:p>
          <a:p>
            <a:pPr marL="576072" lvl="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405FC"/>
              </a:buClr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Agilni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pristup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razvoju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 (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podjela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na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sprintove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).</a:t>
            </a:r>
          </a:p>
          <a:p>
            <a:pPr marL="576072" lvl="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405FC"/>
              </a:buClr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Redoviti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sastanci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praćenje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napretka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.</a:t>
            </a:r>
          </a:p>
          <a:p>
            <a:pPr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405F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Podjela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uloga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:</a:t>
            </a:r>
          </a:p>
          <a:p>
            <a:pPr marL="576072" lvl="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405FC"/>
              </a:buClr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Backend: Baza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podataka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, API,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logika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aplikacije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.</a:t>
            </a:r>
          </a:p>
          <a:p>
            <a:pPr marL="576072" lvl="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405FC"/>
              </a:buClr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Frontend: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Dizajn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sučelja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,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vizualizacija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podataka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.</a:t>
            </a:r>
            <a:endParaRPr kumimoji="0" lang="hr-HR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Biome" panose="020B0503030204020804" pitchFamily="34" charset="0"/>
            </a:endParaRPr>
          </a:p>
          <a:p>
            <a:pPr marL="576072" lvl="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405FC"/>
              </a:buClr>
              <a:defRPr/>
            </a:pPr>
            <a:r>
              <a:rPr lang="hr-HR" dirty="0" err="1">
                <a:solidFill>
                  <a:srgbClr val="FFFFFF"/>
                </a:solidFill>
                <a:latin typeface="Arial Nova"/>
                <a:cs typeface="Biome" panose="020B0503030204020804" pitchFamily="34" charset="0"/>
              </a:rPr>
              <a:t>Dev</a:t>
            </a:r>
            <a:r>
              <a:rPr lang="hr-HR" dirty="0">
                <a:solidFill>
                  <a:srgbClr val="FFFFFF"/>
                </a:solidFill>
                <a:latin typeface="Arial Nova"/>
                <a:cs typeface="Biome" panose="020B0503030204020804" pitchFamily="34" charset="0"/>
              </a:rPr>
              <a:t> </a:t>
            </a:r>
            <a:r>
              <a:rPr lang="hr-HR" dirty="0" err="1">
                <a:solidFill>
                  <a:srgbClr val="FFFFFF"/>
                </a:solidFill>
                <a:latin typeface="Arial Nova"/>
                <a:cs typeface="Biome" panose="020B0503030204020804" pitchFamily="34" charset="0"/>
              </a:rPr>
              <a:t>Ops</a:t>
            </a:r>
            <a:r>
              <a:rPr lang="hr-HR" dirty="0">
                <a:solidFill>
                  <a:srgbClr val="FFFFFF"/>
                </a:solidFill>
                <a:latin typeface="Arial Nova"/>
                <a:cs typeface="Biome" panose="020B0503030204020804" pitchFamily="34" charset="0"/>
              </a:rPr>
              <a:t>: Lako pokretanje na svim </a:t>
            </a:r>
            <a:r>
              <a:rPr lang="hr-HR" dirty="0" err="1">
                <a:solidFill>
                  <a:srgbClr val="FFFFFF"/>
                </a:solidFill>
                <a:latin typeface="Arial Nova"/>
                <a:cs typeface="Biome" panose="020B0503030204020804" pitchFamily="34" charset="0"/>
              </a:rPr>
              <a:t>račnalima</a:t>
            </a:r>
            <a:r>
              <a:rPr lang="hr-HR" dirty="0">
                <a:solidFill>
                  <a:srgbClr val="FFFFFF"/>
                </a:solidFill>
                <a:latin typeface="Arial Nova"/>
                <a:cs typeface="Biome" panose="020B0503030204020804" pitchFamily="34" charset="0"/>
              </a:rPr>
              <a:t> neovisno o radnom okruženju i </a:t>
            </a:r>
            <a:r>
              <a:rPr lang="hr-HR" dirty="0" err="1">
                <a:solidFill>
                  <a:srgbClr val="FFFFFF"/>
                </a:solidFill>
                <a:latin typeface="Arial Nova"/>
                <a:cs typeface="Biome" panose="020B0503030204020804" pitchFamily="34" charset="0"/>
              </a:rPr>
              <a:t>deploy</a:t>
            </a:r>
            <a:r>
              <a:rPr lang="hr-HR" dirty="0">
                <a:solidFill>
                  <a:srgbClr val="FFFFFF"/>
                </a:solidFill>
                <a:latin typeface="Arial Nova"/>
                <a:cs typeface="Biome" panose="020B0503030204020804" pitchFamily="34" charset="0"/>
              </a:rPr>
              <a:t>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Biome" panose="020B0503030204020804" pitchFamily="34" charset="0"/>
            </a:endParaRPr>
          </a:p>
          <a:p>
            <a:pPr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405F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Alati za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kolaboraciju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:</a:t>
            </a:r>
          </a:p>
          <a:p>
            <a:pPr marL="576072" lvl="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405FC"/>
              </a:buClr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Git/GitHub: Za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upravljanje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izvornim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kodom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.</a:t>
            </a:r>
          </a:p>
          <a:p>
            <a:pPr marL="576072" lvl="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9405FC"/>
              </a:buClr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Discord/</a:t>
            </a:r>
            <a:r>
              <a:rPr kumimoji="0" lang="hr-HR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WhatsApp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: Za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komunikaciju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tima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/>
                <a:ea typeface="+mn-ea"/>
                <a:cs typeface="Biome" panose="020B0503030204020804" pitchFamily="34" charset="0"/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95109-E744-3D32-4694-67FE33DC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101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30057-4AAF-CA61-1EBA-4AC3CB181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3363" y="2526424"/>
            <a:ext cx="8305274" cy="1805152"/>
          </a:xfrm>
        </p:spPr>
        <p:txBody>
          <a:bodyPr/>
          <a:lstStyle/>
          <a:p>
            <a:r>
              <a:rPr lang="hr-HR" dirty="0"/>
              <a:t>prikaz rada aplikacije</a:t>
            </a:r>
          </a:p>
        </p:txBody>
      </p:sp>
    </p:spTree>
    <p:extLst>
      <p:ext uri="{BB962C8B-B14F-4D97-AF65-F5344CB8AC3E}">
        <p14:creationId xmlns:p14="http://schemas.microsoft.com/office/powerpoint/2010/main" val="2251672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6A87F6-86F7-FBE9-4F71-700FE5AD4C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70" t="-1" r="20906" b="9216"/>
          <a:stretch>
            <a:fillRect/>
          </a:stretch>
        </p:blipFill>
        <p:spPr>
          <a:xfrm>
            <a:off x="368490" y="270507"/>
            <a:ext cx="4830072" cy="393476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6FB2D78-5B0F-9618-D31D-78829A15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60" y="4599294"/>
            <a:ext cx="10500989" cy="638830"/>
          </a:xfrm>
        </p:spPr>
        <p:txBody>
          <a:bodyPr/>
          <a:lstStyle/>
          <a:p>
            <a:r>
              <a:rPr lang="en-US" dirty="0" err="1"/>
              <a:t>prijava</a:t>
            </a:r>
            <a:r>
              <a:rPr lang="en-US" dirty="0"/>
              <a:t> I </a:t>
            </a:r>
            <a:r>
              <a:rPr lang="en-US" dirty="0" err="1"/>
              <a:t>registracija</a:t>
            </a:r>
            <a:r>
              <a:rPr lang="en-US" dirty="0"/>
              <a:t> </a:t>
            </a:r>
            <a:r>
              <a:rPr lang="en-US" dirty="0" err="1"/>
              <a:t>korisnika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AE87A1-06D0-220B-1DAD-53115AF899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11" r="17243" b="3983"/>
          <a:stretch>
            <a:fillRect/>
          </a:stretch>
        </p:blipFill>
        <p:spPr>
          <a:xfrm>
            <a:off x="5718412" y="270507"/>
            <a:ext cx="4517409" cy="403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645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90987-01D2-19A9-260C-03124E639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ED48B1D-17C2-3EF1-650D-CBB2AC8B0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anchor="b">
            <a:normAutofit/>
          </a:bodyPr>
          <a:lstStyle/>
          <a:p>
            <a:r>
              <a:rPr lang="en-US" dirty="0"/>
              <a:t>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2A152E-7D8A-BCE0-70DF-39035317F9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91" r="21977"/>
          <a:stretch>
            <a:fillRect/>
          </a:stretch>
        </p:blipFill>
        <p:spPr>
          <a:xfrm>
            <a:off x="596988" y="2042454"/>
            <a:ext cx="6063119" cy="4773131"/>
          </a:xfrm>
          <a:prstGeom prst="rect">
            <a:avLst/>
          </a:prstGeom>
          <a:noFill/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0AB681-6BBF-BB81-50B4-2084B903192A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7069540" y="2465388"/>
            <a:ext cx="4599296" cy="143787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Prelged</a:t>
            </a:r>
            <a:r>
              <a:rPr lang="en-US" dirty="0"/>
              <a:t> </a:t>
            </a:r>
            <a:r>
              <a:rPr lang="en-US" dirty="0" err="1"/>
              <a:t>ukupne</a:t>
            </a:r>
            <a:r>
              <a:rPr lang="en-US" dirty="0"/>
              <a:t> </a:t>
            </a:r>
            <a:r>
              <a:rPr lang="en-US" dirty="0" err="1"/>
              <a:t>potro</a:t>
            </a:r>
            <a:r>
              <a:rPr lang="hr-HR" dirty="0" err="1"/>
              <a:t>šnje</a:t>
            </a:r>
            <a:r>
              <a:rPr lang="hr-HR" dirty="0"/>
              <a:t> za pojedinu kategoriju.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Praćenje potrošnje do budžeta u tjednu.</a:t>
            </a:r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2ED5C68D-F76B-90A4-95A5-3AD98A58E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6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1D7AE-7D23-A8CD-04C5-78BBC74FC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3420" y="530612"/>
            <a:ext cx="4486706" cy="1327464"/>
          </a:xfrm>
        </p:spPr>
        <p:txBody>
          <a:bodyPr anchor="b">
            <a:normAutofit/>
          </a:bodyPr>
          <a:lstStyle/>
          <a:p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transakcijama</a:t>
            </a:r>
            <a:endParaRPr lang="hr-H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FEA33A-8008-1965-5EFF-D9ED07D13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0" y="413888"/>
            <a:ext cx="6834956" cy="5673013"/>
          </a:xfrm>
          <a:prstGeom prst="rect">
            <a:avLst/>
          </a:prstGeom>
          <a:noFill/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B6C499E-2C97-96E6-72A7-62B0CA148718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7390263" y="2465388"/>
            <a:ext cx="4486705" cy="342741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Unos novih transakcija.</a:t>
            </a:r>
            <a:br>
              <a:rPr lang="hr-HR" dirty="0"/>
            </a:br>
            <a:r>
              <a:rPr lang="hr-HR" dirty="0"/>
              <a:t>(Sa globalnim i korisničkim kategorijama, trošak ili prihod)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Pregled svih transakcija, te filtriranje sa raznim mogućnostima.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Prikaz mjesečne uštede korisnika.</a:t>
            </a:r>
            <a:endParaRPr lang="en-US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D9FC7CFA-94BA-C3D8-E9C4-236024708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739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3A4F1-7972-C5FC-E445-76B767EC5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anchor="b">
            <a:normAutofit/>
          </a:bodyPr>
          <a:lstStyle/>
          <a:p>
            <a:r>
              <a:rPr lang="hr-HR" dirty="0"/>
              <a:t>Štednja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9B6F5-B48F-80AB-87E4-E0BE4D324107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>
            <a:normAutofit/>
          </a:bodyPr>
          <a:lstStyle/>
          <a:p>
            <a:r>
              <a:rPr lang="hr-HR" dirty="0"/>
              <a:t>Dodavanje ciljeva štednje, do nekog datuma i iznosa.</a:t>
            </a:r>
          </a:p>
          <a:p>
            <a:r>
              <a:rPr lang="hr-HR" dirty="0"/>
              <a:t>Praćenje postizanja cilja štednje.</a:t>
            </a:r>
          </a:p>
          <a:p>
            <a:r>
              <a:rPr lang="hr-HR" dirty="0"/>
              <a:t>Svako dodavanje u štednju će se zabilježiti kao transakcija.</a:t>
            </a:r>
          </a:p>
          <a:p>
            <a:r>
              <a:rPr lang="hr-HR" dirty="0"/>
              <a:t>Mogućnost više štednji.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6C3BB5-8BCC-CF1C-FBC2-6A60A154E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949" y="2465539"/>
            <a:ext cx="6030370" cy="3723753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173A9-A095-2567-F737-89E2C505B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3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53AC4-CB62-9AD8-A54D-96A5B775D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 anchor="b">
            <a:normAutofit/>
          </a:bodyPr>
          <a:lstStyle/>
          <a:p>
            <a:r>
              <a:rPr lang="hr-HR" dirty="0"/>
              <a:t>analiza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56FFF3-2327-7084-40D1-E5BD5E9AE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" y="942919"/>
            <a:ext cx="5303640" cy="4972162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C98E1-3E21-7275-97FD-5725A13E009E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7" y="3104277"/>
            <a:ext cx="4371560" cy="3022201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r-HR" dirty="0"/>
              <a:t>Mjesečna analiza stvarne potrošnje zadnjih n mjeseci.</a:t>
            </a:r>
          </a:p>
          <a:p>
            <a:pPr marL="342900" indent="-342900">
              <a:buFont typeface="+mj-lt"/>
              <a:buAutoNum type="arabicPeriod"/>
            </a:pPr>
            <a:r>
              <a:rPr lang="hr-HR" dirty="0"/>
              <a:t>Analiza po danima sa bar </a:t>
            </a:r>
            <a:r>
              <a:rPr lang="hr-HR" dirty="0" err="1"/>
              <a:t>chart</a:t>
            </a:r>
            <a:r>
              <a:rPr lang="hr-HR" dirty="0"/>
              <a:t> prikazom stvarne potrošnje po danima.</a:t>
            </a:r>
          </a:p>
          <a:p>
            <a:endParaRPr lang="hr-H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B69D3-2DA5-8ADF-0BCF-83BA7118A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050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BECC8-A26A-0261-91C8-A28DCA723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anchor="b">
            <a:normAutofit/>
          </a:bodyPr>
          <a:lstStyle/>
          <a:p>
            <a:r>
              <a:rPr lang="hr-HR" dirty="0"/>
              <a:t>analiza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B2DD4-4C7E-3164-7B9B-0D8137AADD3D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hr-HR" sz="1500" b="1" dirty="0"/>
              <a:t>Pokretni prosjek </a:t>
            </a:r>
            <a:r>
              <a:rPr lang="hr-HR" sz="1500" dirty="0"/>
              <a:t>– prosječna potrošnja korisnika u zadnjih n mjeseci.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hr-HR" sz="1500" b="1" dirty="0"/>
              <a:t>Pomični mjesečni niz </a:t>
            </a:r>
            <a:r>
              <a:rPr lang="hr-HR" sz="1500" dirty="0"/>
              <a:t>– služi vizualizaciji potrošnje korisnika kroz cjelokupni period (raste li ili pada potrošnja korisnika)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hr-HR" sz="1500" b="1" dirty="0"/>
              <a:t>Datum za </a:t>
            </a:r>
            <a:r>
              <a:rPr lang="hr-HR" sz="1500" b="1" dirty="0" err="1"/>
              <a:t>predivđanje</a:t>
            </a:r>
            <a:r>
              <a:rPr lang="hr-HR" sz="1500" b="1" dirty="0"/>
              <a:t> </a:t>
            </a:r>
            <a:r>
              <a:rPr lang="hr-HR" sz="1500" dirty="0"/>
              <a:t>– za datum u budućnosti, prema trendovima i stvarnim potrošnjama korisnika, predviđa se njegova potrošnja za taj dan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F67120-B26C-A312-BA4A-2E0B91843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540" y="808473"/>
            <a:ext cx="6920669" cy="5380820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5DF16-BE5D-68A1-8879-B8A450359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46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C74E-3A8C-77EA-E7B6-43BBA8764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datum za predviđanje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DF9B51-4890-C70C-E39D-8DB38A724CDD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80" y="2125981"/>
            <a:ext cx="10500989" cy="406331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Korisnik</a:t>
            </a:r>
            <a:r>
              <a:rPr lang="en-US" dirty="0"/>
              <a:t> </a:t>
            </a:r>
            <a:r>
              <a:rPr lang="en-US" dirty="0" err="1"/>
              <a:t>unosi</a:t>
            </a:r>
            <a:r>
              <a:rPr lang="en-US" dirty="0"/>
              <a:t> </a:t>
            </a:r>
            <a:r>
              <a:rPr lang="en-US" b="1" dirty="0" err="1"/>
              <a:t>konkretan</a:t>
            </a:r>
            <a:r>
              <a:rPr lang="en-US" b="1" dirty="0"/>
              <a:t> </a:t>
            </a:r>
            <a:r>
              <a:rPr lang="en-US" b="1" dirty="0" err="1"/>
              <a:t>budući</a:t>
            </a:r>
            <a:r>
              <a:rPr lang="en-US" b="1" dirty="0"/>
              <a:t> datum</a:t>
            </a:r>
            <a:r>
              <a:rPr lang="en-US" dirty="0"/>
              <a:t> za koji </a:t>
            </a:r>
            <a:r>
              <a:rPr lang="en-US" dirty="0" err="1"/>
              <a:t>želi</a:t>
            </a:r>
            <a:r>
              <a:rPr lang="en-US" dirty="0"/>
              <a:t> </a:t>
            </a:r>
            <a:r>
              <a:rPr lang="en-US" dirty="0" err="1"/>
              <a:t>dobiti</a:t>
            </a:r>
            <a:r>
              <a:rPr lang="en-US" dirty="0"/>
              <a:t> </a:t>
            </a:r>
            <a:r>
              <a:rPr lang="en-US" dirty="0" err="1"/>
              <a:t>procjenu</a:t>
            </a:r>
            <a:r>
              <a:rPr lang="en-US" dirty="0"/>
              <a:t> </a:t>
            </a:r>
            <a:r>
              <a:rPr lang="en-US" dirty="0" err="1"/>
              <a:t>potrošnje</a:t>
            </a:r>
            <a:r>
              <a:rPr lang="en-US" dirty="0"/>
              <a:t>. Taj datum </a:t>
            </a:r>
            <a:r>
              <a:rPr lang="en-US" dirty="0" err="1"/>
              <a:t>služi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ulaz</a:t>
            </a:r>
            <a:r>
              <a:rPr lang="en-US" dirty="0"/>
              <a:t> u </a:t>
            </a:r>
            <a:r>
              <a:rPr lang="en-US" b="1" dirty="0"/>
              <a:t>model </a:t>
            </a:r>
            <a:r>
              <a:rPr lang="en-US" b="1" dirty="0" err="1"/>
              <a:t>višestruke</a:t>
            </a:r>
            <a:r>
              <a:rPr lang="en-US" b="1" dirty="0"/>
              <a:t> </a:t>
            </a:r>
            <a:r>
              <a:rPr lang="en-US" b="1" dirty="0" err="1"/>
              <a:t>linearne</a:t>
            </a:r>
            <a:r>
              <a:rPr lang="en-US" b="1" dirty="0"/>
              <a:t> </a:t>
            </a:r>
            <a:r>
              <a:rPr lang="en-US" b="1" dirty="0" err="1"/>
              <a:t>regresije</a:t>
            </a:r>
            <a:r>
              <a:rPr lang="en-US" b="1" dirty="0"/>
              <a:t> (multiple linear regression)</a:t>
            </a:r>
            <a:r>
              <a:rPr lang="en-US" dirty="0"/>
              <a:t> koji </a:t>
            </a:r>
            <a:r>
              <a:rPr lang="en-US" dirty="0" err="1"/>
              <a:t>analizira</a:t>
            </a:r>
            <a:r>
              <a:rPr lang="en-US" dirty="0"/>
              <a:t> </a:t>
            </a:r>
            <a:r>
              <a:rPr lang="en-US" dirty="0" err="1"/>
              <a:t>obrasce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povijesnih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Ako </a:t>
            </a:r>
            <a:r>
              <a:rPr lang="en-US" dirty="0" err="1"/>
              <a:t>korisnik</a:t>
            </a:r>
            <a:r>
              <a:rPr lang="en-US" dirty="0"/>
              <a:t> </a:t>
            </a:r>
            <a:r>
              <a:rPr lang="en-US" b="1" dirty="0"/>
              <a:t>ne </a:t>
            </a:r>
            <a:r>
              <a:rPr lang="en-US" b="1" dirty="0" err="1"/>
              <a:t>odabere</a:t>
            </a:r>
            <a:r>
              <a:rPr lang="en-US" b="1" dirty="0"/>
              <a:t> </a:t>
            </a:r>
            <a:r>
              <a:rPr lang="en-US" b="1" dirty="0" err="1"/>
              <a:t>kategoriju</a:t>
            </a:r>
            <a:r>
              <a:rPr lang="en-US" dirty="0"/>
              <a:t>, </a:t>
            </a:r>
            <a:r>
              <a:rPr lang="en-US" dirty="0" err="1"/>
              <a:t>sustav</a:t>
            </a:r>
            <a:r>
              <a:rPr lang="en-US" dirty="0"/>
              <a:t> </a:t>
            </a:r>
            <a:r>
              <a:rPr lang="en-US" dirty="0" err="1"/>
              <a:t>predviđa</a:t>
            </a:r>
            <a:r>
              <a:rPr lang="en-US" dirty="0"/>
              <a:t> </a:t>
            </a:r>
            <a:r>
              <a:rPr lang="en-US" b="1" dirty="0" err="1"/>
              <a:t>ukupnu</a:t>
            </a:r>
            <a:r>
              <a:rPr lang="en-US" b="1" dirty="0"/>
              <a:t> </a:t>
            </a:r>
            <a:r>
              <a:rPr lang="en-US" b="1" dirty="0" err="1"/>
              <a:t>dnevnu</a:t>
            </a:r>
            <a:r>
              <a:rPr lang="en-US" b="1" dirty="0"/>
              <a:t> </a:t>
            </a:r>
            <a:r>
              <a:rPr lang="en-US" b="1" dirty="0" err="1"/>
              <a:t>potrošnju</a:t>
            </a:r>
            <a:r>
              <a:rPr lang="en-US" dirty="0"/>
              <a:t>,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čemu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najvažniji</a:t>
            </a:r>
            <a:r>
              <a:rPr lang="en-US" dirty="0"/>
              <a:t> </a:t>
            </a:r>
            <a:r>
              <a:rPr lang="en-US" dirty="0" err="1"/>
              <a:t>obrasci</a:t>
            </a:r>
            <a:r>
              <a:rPr lang="en-US" dirty="0"/>
              <a:t> </a:t>
            </a:r>
            <a:r>
              <a:rPr lang="en-US" dirty="0" err="1"/>
              <a:t>vezani</a:t>
            </a:r>
            <a:r>
              <a:rPr lang="en-US" dirty="0"/>
              <a:t>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b="1" dirty="0"/>
              <a:t>dan u </a:t>
            </a:r>
            <a:r>
              <a:rPr lang="en-US" b="1" dirty="0" err="1"/>
              <a:t>tjednu</a:t>
            </a:r>
            <a:r>
              <a:rPr lang="en-US" dirty="0"/>
              <a:t> (</a:t>
            </a:r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dirty="0" err="1"/>
              <a:t>razlika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radnih</a:t>
            </a:r>
            <a:r>
              <a:rPr lang="en-US" dirty="0"/>
              <a:t> dana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vikenda</a:t>
            </a:r>
            <a:r>
              <a:rPr lang="en-US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Ako </a:t>
            </a:r>
            <a:r>
              <a:rPr lang="en-US" dirty="0" err="1"/>
              <a:t>korisnik</a:t>
            </a:r>
            <a:r>
              <a:rPr lang="en-US" dirty="0"/>
              <a:t> </a:t>
            </a:r>
            <a:r>
              <a:rPr lang="en-US" b="1" dirty="0" err="1"/>
              <a:t>odabere</a:t>
            </a:r>
            <a:r>
              <a:rPr lang="en-US" b="1" dirty="0"/>
              <a:t> </a:t>
            </a:r>
            <a:r>
              <a:rPr lang="en-US" b="1" dirty="0" err="1"/>
              <a:t>kategoriju</a:t>
            </a:r>
            <a:r>
              <a:rPr lang="en-US" dirty="0"/>
              <a:t>, model </a:t>
            </a:r>
            <a:r>
              <a:rPr lang="en-US" dirty="0" err="1"/>
              <a:t>dodatno</a:t>
            </a:r>
            <a:r>
              <a:rPr lang="en-US" dirty="0"/>
              <a:t> </a:t>
            </a:r>
            <a:r>
              <a:rPr lang="en-US" dirty="0" err="1"/>
              <a:t>uzima</a:t>
            </a:r>
            <a:r>
              <a:rPr lang="en-US" dirty="0"/>
              <a:t> u </a:t>
            </a:r>
            <a:r>
              <a:rPr lang="en-US" dirty="0" err="1"/>
              <a:t>obzir</a:t>
            </a:r>
            <a:r>
              <a:rPr lang="en-US" dirty="0"/>
              <a:t> </a:t>
            </a:r>
            <a:r>
              <a:rPr lang="en-US" b="1" dirty="0" err="1"/>
              <a:t>mjesec</a:t>
            </a:r>
            <a:r>
              <a:rPr lang="en-US" b="1" dirty="0"/>
              <a:t> u </a:t>
            </a:r>
            <a:r>
              <a:rPr lang="en-US" b="1" dirty="0" err="1"/>
              <a:t>godini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vrstu</a:t>
            </a:r>
            <a:r>
              <a:rPr lang="en-US" b="1" dirty="0"/>
              <a:t> </a:t>
            </a:r>
            <a:r>
              <a:rPr lang="en-US" b="1" dirty="0" err="1"/>
              <a:t>kategorije</a:t>
            </a:r>
            <a:r>
              <a:rPr lang="en-US" dirty="0"/>
              <a:t>, </a:t>
            </a:r>
            <a:r>
              <a:rPr lang="en-US" dirty="0" err="1"/>
              <a:t>kako</a:t>
            </a:r>
            <a:r>
              <a:rPr lang="en-US" dirty="0"/>
              <a:t> bi </a:t>
            </a:r>
            <a:r>
              <a:rPr lang="en-US" dirty="0" err="1"/>
              <a:t>procijenio</a:t>
            </a:r>
            <a:r>
              <a:rPr lang="en-US" dirty="0"/>
              <a:t> </a:t>
            </a:r>
            <a:r>
              <a:rPr lang="en-US" dirty="0" err="1"/>
              <a:t>koliki</a:t>
            </a:r>
            <a:r>
              <a:rPr lang="en-US" dirty="0"/>
              <a:t> je </a:t>
            </a:r>
            <a:r>
              <a:rPr lang="en-US" dirty="0" err="1"/>
              <a:t>očekivani</a:t>
            </a:r>
            <a:r>
              <a:rPr lang="en-US" dirty="0"/>
              <a:t> </a:t>
            </a:r>
            <a:r>
              <a:rPr lang="en-US" dirty="0" err="1"/>
              <a:t>iznos</a:t>
            </a:r>
            <a:r>
              <a:rPr lang="en-US" dirty="0"/>
              <a:t> </a:t>
            </a:r>
            <a:r>
              <a:rPr lang="en-US" dirty="0" err="1"/>
              <a:t>potrošnje</a:t>
            </a:r>
            <a:r>
              <a:rPr lang="en-US" dirty="0"/>
              <a:t> za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specifičnu</a:t>
            </a:r>
            <a:r>
              <a:rPr lang="en-US" dirty="0"/>
              <a:t> </a:t>
            </a:r>
            <a:r>
              <a:rPr lang="en-US" dirty="0" err="1"/>
              <a:t>kategoriju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odabrani</a:t>
            </a:r>
            <a:r>
              <a:rPr lang="en-US" dirty="0"/>
              <a:t> datum.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 oba </a:t>
            </a:r>
            <a:r>
              <a:rPr lang="en-US" dirty="0" err="1"/>
              <a:t>slučaja</a:t>
            </a:r>
            <a:r>
              <a:rPr lang="en-US" dirty="0"/>
              <a:t>, </a:t>
            </a:r>
            <a:r>
              <a:rPr lang="en-US" dirty="0" err="1"/>
              <a:t>cilj</a:t>
            </a:r>
            <a:r>
              <a:rPr lang="en-US" dirty="0"/>
              <a:t> je </a:t>
            </a:r>
            <a:r>
              <a:rPr lang="en-US" dirty="0" err="1"/>
              <a:t>odgovoriti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pitanje</a:t>
            </a:r>
            <a:r>
              <a:rPr lang="en-US" dirty="0"/>
              <a:t>:</a:t>
            </a:r>
            <a:br>
              <a:rPr lang="en-US" dirty="0"/>
            </a:br>
            <a:r>
              <a:rPr lang="en-US" b="1" dirty="0"/>
              <a:t>„Koliko je </a:t>
            </a:r>
            <a:r>
              <a:rPr lang="en-US" b="1" dirty="0" err="1"/>
              <a:t>vjerojatno</a:t>
            </a:r>
            <a:r>
              <a:rPr lang="en-US" b="1" dirty="0"/>
              <a:t> da </a:t>
            </a:r>
            <a:r>
              <a:rPr lang="en-US" b="1" dirty="0" err="1"/>
              <a:t>ću</a:t>
            </a:r>
            <a:r>
              <a:rPr lang="en-US" b="1" dirty="0"/>
              <a:t> </a:t>
            </a:r>
            <a:r>
              <a:rPr lang="en-US" b="1" dirty="0" err="1"/>
              <a:t>potrošiti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taj dan, s </a:t>
            </a:r>
            <a:r>
              <a:rPr lang="en-US" b="1" dirty="0" err="1"/>
              <a:t>obzirom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moje</a:t>
            </a:r>
            <a:r>
              <a:rPr lang="en-US" b="1" dirty="0"/>
              <a:t> </a:t>
            </a:r>
            <a:r>
              <a:rPr lang="en-US" b="1" dirty="0" err="1"/>
              <a:t>dosadašnje</a:t>
            </a:r>
            <a:r>
              <a:rPr lang="en-US" b="1" dirty="0"/>
              <a:t> </a:t>
            </a:r>
            <a:r>
              <a:rPr lang="en-US" b="1" dirty="0" err="1"/>
              <a:t>navike</a:t>
            </a:r>
            <a:r>
              <a:rPr lang="en-US" b="1" dirty="0"/>
              <a:t>?“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B4294A-6D2D-9B0F-5FE0-577A50D7A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05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D016-2087-1837-182C-8DB8E76D6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anchor="b">
            <a:normAutofit/>
          </a:bodyPr>
          <a:lstStyle/>
          <a:p>
            <a:r>
              <a:rPr lang="hr-HR" dirty="0"/>
              <a:t>UVOZ CSV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6639A5-A36A-85FE-FE22-211A7F1DB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94" y="2079366"/>
            <a:ext cx="7307192" cy="4146832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1C664-4992-2A15-6DB2-3DCEB4C93648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7604760" y="2465388"/>
            <a:ext cx="4279411" cy="342741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Simulira uvoz bankovnog izvoda .</a:t>
            </a:r>
            <a:r>
              <a:rPr lang="hr-HR" dirty="0" err="1"/>
              <a:t>csv</a:t>
            </a:r>
            <a:r>
              <a:rPr lang="hr-HR" dirty="0"/>
              <a:t>, .</a:t>
            </a:r>
            <a:r>
              <a:rPr lang="hr-HR" dirty="0" err="1"/>
              <a:t>xlsx</a:t>
            </a:r>
            <a:r>
              <a:rPr lang="hr-HR" dirty="0"/>
              <a:t>, .</a:t>
            </a:r>
            <a:r>
              <a:rPr lang="hr-HR" dirty="0" err="1"/>
              <a:t>xls</a:t>
            </a:r>
            <a:r>
              <a:rPr lang="hr-HR" dirty="0"/>
              <a:t> datoteke, kako bi automatski unio korisnikove transakcije.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Također, ima template u Excel formatu kao predložak za popunjavanje preko tablica.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1F37D-ED46-2FD7-A4DC-4AC227C2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75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F4116-782F-37D7-3ECA-3B73D3040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 anchor="b">
            <a:normAutofit/>
          </a:bodyPr>
          <a:lstStyle/>
          <a:p>
            <a:r>
              <a:rPr lang="hr-HR" dirty="0" err="1"/>
              <a:t>Admin</a:t>
            </a:r>
            <a:endParaRPr lang="hr-H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B9C460-6DE1-5D5F-7575-66B658E34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57" y="336550"/>
            <a:ext cx="5272626" cy="6184900"/>
          </a:xfrm>
          <a:prstGeom prst="rect">
            <a:avLst/>
          </a:prstGeom>
          <a:noFill/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55C9E6D-BA7F-2761-27D4-5047E8AA4CD3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781800" y="2964181"/>
            <a:ext cx="4479387" cy="3162298"/>
          </a:xfrm>
        </p:spPr>
        <p:txBody>
          <a:bodyPr/>
          <a:lstStyle/>
          <a:p>
            <a:r>
              <a:rPr lang="hr-HR" dirty="0"/>
              <a:t>Za </a:t>
            </a:r>
            <a:r>
              <a:rPr lang="hr-HR" dirty="0" err="1"/>
              <a:t>admina</a:t>
            </a:r>
            <a:r>
              <a:rPr lang="hr-HR" dirty="0"/>
              <a:t> web stranica, pruža se mogućnost upravljanja korisnicima (uređivanje podataka, dodavanje, brisanje korisnika) i dodavanja novih </a:t>
            </a:r>
            <a:r>
              <a:rPr lang="hr-HR" dirty="0" err="1"/>
              <a:t>admina</a:t>
            </a:r>
            <a:r>
              <a:rPr lang="hr-HR" dirty="0"/>
              <a:t>.</a:t>
            </a:r>
          </a:p>
          <a:p>
            <a:r>
              <a:rPr lang="hr-HR" dirty="0"/>
              <a:t>Također, </a:t>
            </a:r>
            <a:r>
              <a:rPr lang="hr-HR" dirty="0" err="1"/>
              <a:t>admin</a:t>
            </a:r>
            <a:r>
              <a:rPr lang="hr-HR" dirty="0"/>
              <a:t> može upravljati zajedničkim (globalnim) kategorijama, vidljivih svim korisnicima.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7A9B2C-A5D6-4C6C-ABA9-2726FCAD2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68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13EA4-562B-938E-AA0C-00F8510AD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3322D-71AF-8BE8-BDAD-FE0C37E2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hr-HR" dirty="0"/>
              <a:t>Zaključak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998AE-2D9A-A161-0A87-3F83D2E7106A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1013846" y="2130195"/>
            <a:ext cx="10164308" cy="439042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b="1" dirty="0"/>
              <a:t>Naučene lekcije</a:t>
            </a:r>
          </a:p>
          <a:p>
            <a:pPr lvl="2"/>
            <a:r>
              <a:rPr lang="en-US" dirty="0" err="1"/>
              <a:t>Uspjeh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 </a:t>
            </a:r>
            <a:r>
              <a:rPr lang="en-US" dirty="0" err="1"/>
              <a:t>uvelike</a:t>
            </a:r>
            <a:r>
              <a:rPr lang="en-US" dirty="0"/>
              <a:t> </a:t>
            </a:r>
            <a:r>
              <a:rPr lang="en-US" dirty="0" err="1"/>
              <a:t>ovisi</a:t>
            </a:r>
            <a:r>
              <a:rPr lang="en-US" dirty="0"/>
              <a:t> o </a:t>
            </a:r>
            <a:r>
              <a:rPr lang="en-US" dirty="0" err="1"/>
              <a:t>dobroj</a:t>
            </a:r>
            <a:r>
              <a:rPr lang="en-US" dirty="0"/>
              <a:t> </a:t>
            </a:r>
            <a:r>
              <a:rPr lang="en-US" dirty="0" err="1"/>
              <a:t>koordinaciji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međusobnoj</a:t>
            </a:r>
            <a:r>
              <a:rPr lang="en-US" dirty="0"/>
              <a:t> </a:t>
            </a:r>
            <a:r>
              <a:rPr lang="en-US" dirty="0" err="1"/>
              <a:t>komunikaciji</a:t>
            </a:r>
            <a:r>
              <a:rPr lang="en-US" dirty="0"/>
              <a:t> </a:t>
            </a:r>
            <a:r>
              <a:rPr lang="en-US" dirty="0" err="1"/>
              <a:t>tima</a:t>
            </a:r>
            <a:endParaRPr lang="hr-HR" dirty="0"/>
          </a:p>
          <a:p>
            <a:pPr lvl="2"/>
            <a:r>
              <a:rPr lang="en-US" dirty="0" err="1"/>
              <a:t>Precizno</a:t>
            </a:r>
            <a:r>
              <a:rPr lang="en-US" dirty="0"/>
              <a:t> </a:t>
            </a:r>
            <a:r>
              <a:rPr lang="en-US" dirty="0" err="1"/>
              <a:t>definirani</a:t>
            </a:r>
            <a:r>
              <a:rPr lang="en-US" dirty="0"/>
              <a:t> </a:t>
            </a:r>
            <a:r>
              <a:rPr lang="en-US" dirty="0" err="1"/>
              <a:t>zadaci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realno</a:t>
            </a:r>
            <a:r>
              <a:rPr lang="en-US" dirty="0"/>
              <a:t> </a:t>
            </a:r>
            <a:r>
              <a:rPr lang="en-US" dirty="0" err="1"/>
              <a:t>planiranje</a:t>
            </a:r>
            <a:r>
              <a:rPr lang="en-US" dirty="0"/>
              <a:t> </a:t>
            </a:r>
            <a:r>
              <a:rPr lang="en-US" dirty="0" err="1"/>
              <a:t>vremena</a:t>
            </a:r>
            <a:r>
              <a:rPr lang="en-US" dirty="0"/>
              <a:t> </a:t>
            </a:r>
            <a:r>
              <a:rPr lang="en-US" dirty="0" err="1"/>
              <a:t>smanjuju</a:t>
            </a:r>
            <a:r>
              <a:rPr lang="en-US" dirty="0"/>
              <a:t> </a:t>
            </a:r>
            <a:r>
              <a:rPr lang="en-US" dirty="0" err="1"/>
              <a:t>kasnije</a:t>
            </a:r>
            <a:r>
              <a:rPr lang="en-US" dirty="0"/>
              <a:t> </a:t>
            </a:r>
            <a:r>
              <a:rPr lang="en-US" dirty="0" err="1"/>
              <a:t>probleme</a:t>
            </a:r>
            <a:endParaRPr lang="hr-HR" dirty="0"/>
          </a:p>
          <a:p>
            <a:pPr lvl="2"/>
            <a:r>
              <a:rPr lang="en-US" dirty="0" err="1"/>
              <a:t>Redovito</a:t>
            </a:r>
            <a:r>
              <a:rPr lang="en-US" dirty="0"/>
              <a:t> </a:t>
            </a:r>
            <a:r>
              <a:rPr lang="en-US" dirty="0" err="1"/>
              <a:t>održavanje</a:t>
            </a:r>
            <a:r>
              <a:rPr lang="en-US" dirty="0"/>
              <a:t> </a:t>
            </a:r>
            <a:r>
              <a:rPr lang="en-US" dirty="0" err="1"/>
              <a:t>dokumentacije</a:t>
            </a:r>
            <a:r>
              <a:rPr lang="en-US" dirty="0"/>
              <a:t> </a:t>
            </a:r>
            <a:r>
              <a:rPr lang="en-US" dirty="0" err="1"/>
              <a:t>pokazalo</a:t>
            </a:r>
            <a:r>
              <a:rPr lang="en-US" dirty="0"/>
              <a:t> se </a:t>
            </a:r>
            <a:r>
              <a:rPr lang="en-US" dirty="0" err="1"/>
              <a:t>ključnim</a:t>
            </a:r>
            <a:r>
              <a:rPr lang="en-US" dirty="0"/>
              <a:t>, </a:t>
            </a:r>
            <a:r>
              <a:rPr lang="en-US" dirty="0" err="1"/>
              <a:t>iako</a:t>
            </a:r>
            <a:r>
              <a:rPr lang="en-US" dirty="0"/>
              <a:t> </a:t>
            </a:r>
            <a:r>
              <a:rPr lang="en-US" dirty="0" err="1"/>
              <a:t>vremenski</a:t>
            </a:r>
            <a:r>
              <a:rPr lang="en-US" dirty="0"/>
              <a:t> </a:t>
            </a:r>
            <a:r>
              <a:rPr lang="en-US" dirty="0" err="1"/>
              <a:t>zahtjevnim</a:t>
            </a:r>
            <a:endParaRPr lang="hr-HR" dirty="0"/>
          </a:p>
          <a:p>
            <a:pPr lvl="2"/>
            <a:r>
              <a:rPr lang="en-US" dirty="0" err="1"/>
              <a:t>Učinkovita</a:t>
            </a:r>
            <a:r>
              <a:rPr lang="en-US" dirty="0"/>
              <a:t> </a:t>
            </a:r>
            <a:r>
              <a:rPr lang="en-US" dirty="0" err="1"/>
              <a:t>suradnja</a:t>
            </a:r>
            <a:r>
              <a:rPr lang="en-US" dirty="0"/>
              <a:t> </a:t>
            </a:r>
            <a:r>
              <a:rPr lang="en-US" dirty="0" err="1"/>
              <a:t>frontenda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backenda</a:t>
            </a:r>
            <a:r>
              <a:rPr lang="en-US" dirty="0"/>
              <a:t> </a:t>
            </a:r>
            <a:r>
              <a:rPr lang="en-US" dirty="0" err="1"/>
              <a:t>nužna</a:t>
            </a:r>
            <a:r>
              <a:rPr lang="en-US" dirty="0"/>
              <a:t> je za </a:t>
            </a:r>
            <a:r>
              <a:rPr lang="en-US" dirty="0" err="1"/>
              <a:t>funkcionalno</a:t>
            </a:r>
            <a:r>
              <a:rPr lang="en-US" dirty="0"/>
              <a:t> </a:t>
            </a:r>
            <a:r>
              <a:rPr lang="en-US" dirty="0" err="1"/>
              <a:t>rješenje</a:t>
            </a:r>
            <a:endParaRPr lang="hr-HR" dirty="0"/>
          </a:p>
          <a:p>
            <a:pPr lvl="2"/>
            <a:r>
              <a:rPr lang="en-US" dirty="0" err="1"/>
              <a:t>Prioritet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funkcionalnosti</a:t>
            </a:r>
            <a:r>
              <a:rPr lang="en-US" dirty="0"/>
              <a:t> </a:t>
            </a:r>
            <a:r>
              <a:rPr lang="en-US" dirty="0" err="1"/>
              <a:t>sustava</a:t>
            </a:r>
            <a:r>
              <a:rPr lang="en-US" dirty="0"/>
              <a:t> </a:t>
            </a:r>
            <a:r>
              <a:rPr lang="en-US" dirty="0" err="1"/>
              <a:t>prije</a:t>
            </a:r>
            <a:r>
              <a:rPr lang="en-US" dirty="0"/>
              <a:t> </a:t>
            </a:r>
            <a:r>
              <a:rPr lang="en-US" dirty="0" err="1"/>
              <a:t>estetskih</a:t>
            </a:r>
            <a:r>
              <a:rPr lang="en-US" dirty="0"/>
              <a:t> </a:t>
            </a:r>
            <a:r>
              <a:rPr lang="en-US" dirty="0" err="1"/>
              <a:t>detalja</a:t>
            </a:r>
            <a:endParaRPr lang="hr-HR" dirty="0"/>
          </a:p>
          <a:p>
            <a:pPr lvl="2"/>
            <a:r>
              <a:rPr lang="en-US" dirty="0"/>
              <a:t>Projekt je </a:t>
            </a:r>
            <a:r>
              <a:rPr lang="en-US" dirty="0" err="1"/>
              <a:t>omogućio</a:t>
            </a:r>
            <a:r>
              <a:rPr lang="en-US" dirty="0"/>
              <a:t> </a:t>
            </a:r>
            <a:r>
              <a:rPr lang="en-US" dirty="0" err="1"/>
              <a:t>upoznavanje</a:t>
            </a:r>
            <a:r>
              <a:rPr lang="en-US" dirty="0"/>
              <a:t> </a:t>
            </a:r>
            <a:r>
              <a:rPr lang="en-US" dirty="0" err="1"/>
              <a:t>novih</a:t>
            </a:r>
            <a:r>
              <a:rPr lang="en-US" dirty="0"/>
              <a:t> </a:t>
            </a:r>
            <a:r>
              <a:rPr lang="en-US" dirty="0" err="1"/>
              <a:t>tehnologija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razvoj</a:t>
            </a:r>
            <a:r>
              <a:rPr lang="en-US" dirty="0"/>
              <a:t> </a:t>
            </a:r>
            <a:r>
              <a:rPr lang="en-US" dirty="0" err="1"/>
              <a:t>organizacijskih</a:t>
            </a:r>
            <a:r>
              <a:rPr lang="en-US" dirty="0"/>
              <a:t> </a:t>
            </a:r>
            <a:r>
              <a:rPr lang="en-US" dirty="0" err="1"/>
              <a:t>vještina</a:t>
            </a:r>
            <a:endParaRPr lang="hr-HR" dirty="0"/>
          </a:p>
          <a:p>
            <a:pPr lvl="2"/>
            <a:r>
              <a:rPr lang="pl-PL" dirty="0"/>
              <a:t>Rad u timu pružio je dojam rada na stvarnom softverskom projektu</a:t>
            </a:r>
            <a:endParaRPr lang="hr-HR" dirty="0">
              <a:sym typeface="Wingdings" panose="05000000000000000000" pitchFamily="2" charset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F66876-6C5D-0027-6246-B9CB711E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6594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{C92ED89E-C1DA-4F88-BED5-5AB3AE5F51DF}TFe8699e8e-689b-4d7e-abcf-e888fd749829db3118dc_win32-d573b439b56f</Template>
  <TotalTime>157</TotalTime>
  <Words>1026</Words>
  <Application>Microsoft Office PowerPoint</Application>
  <PresentationFormat>Widescreen</PresentationFormat>
  <Paragraphs>167</Paragraphs>
  <Slides>23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Arial Nova</vt:lpstr>
      <vt:lpstr>Biome</vt:lpstr>
      <vt:lpstr>Calibri</vt:lpstr>
      <vt:lpstr>Wingdings</vt:lpstr>
      <vt:lpstr>Custom</vt:lpstr>
      <vt:lpstr>FINTRACK</vt:lpstr>
      <vt:lpstr>sadržaj</vt:lpstr>
      <vt:lpstr>članovi grupe</vt:lpstr>
      <vt:lpstr>O projektu</vt:lpstr>
      <vt:lpstr>O projektu</vt:lpstr>
      <vt:lpstr>Analiza i oblikovanje sustava</vt:lpstr>
      <vt:lpstr>Funkcijski zahtjevi</vt:lpstr>
      <vt:lpstr>NEFUNKCIJSKI zAHTJEVI</vt:lpstr>
      <vt:lpstr>PowerPoint Presentation</vt:lpstr>
      <vt:lpstr>Arhitektura sustava</vt:lpstr>
      <vt:lpstr>Korišteni alati i tehnologije</vt:lpstr>
      <vt:lpstr>Organizacija rada</vt:lpstr>
      <vt:lpstr>prikaz rada aplikacije</vt:lpstr>
      <vt:lpstr>prijava I registracija korisnika</vt:lpstr>
      <vt:lpstr>Dashboard</vt:lpstr>
      <vt:lpstr>upravljanje transakcijama</vt:lpstr>
      <vt:lpstr>Štednja</vt:lpstr>
      <vt:lpstr>analiza</vt:lpstr>
      <vt:lpstr>analiza</vt:lpstr>
      <vt:lpstr>datum za predviđanje</vt:lpstr>
      <vt:lpstr>UVOZ CSV</vt:lpstr>
      <vt:lpstr>Admin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Valec</dc:creator>
  <cp:lastModifiedBy>Antonio Valec</cp:lastModifiedBy>
  <cp:revision>24</cp:revision>
  <dcterms:created xsi:type="dcterms:W3CDTF">2026-01-29T19:39:26Z</dcterms:created>
  <dcterms:modified xsi:type="dcterms:W3CDTF">2026-01-29T22:16:37Z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